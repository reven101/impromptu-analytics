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</c:v>
                </c:pt>
              </c:strCache>
            </c:strRef>
          </c:tx>
          <c:spPr>
            <a:solidFill>
              <a:srgbClr val="B23A2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6514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23A2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E7D59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E7D59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E7D59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E7D59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Buskerud</c:v>
                  </c:pt>
                  <c:pt idx="1">
                    <c:v>Akershus</c:v>
                  </c:pt>
                  <c:pt idx="2">
                    <c:v>Vestfold</c:v>
                  </c:pt>
                  <c:pt idx="3">
                    <c:v>Østfold</c:v>
                  </c:pt>
                  <c:pt idx="4">
                    <c:v>Agder</c:v>
                  </c:pt>
                  <c:pt idx="5">
                    <c:v>Rogaland</c:v>
                  </c:pt>
                  <c:pt idx="6">
                    <c:v>Telemark</c:v>
                  </c:pt>
                  <c:pt idx="7">
                    <c:v>Møre og Romsdal</c:v>
                  </c:pt>
                  <c:pt idx="8">
                    <c:v>Innlandet</c:v>
                  </c:pt>
                  <c:pt idx="9">
                    <c:v>Nordland</c:v>
                  </c:pt>
                  <c:pt idx="10">
                    <c:v>Trøndelag</c:v>
                  </c:pt>
                  <c:pt idx="11">
                    <c:v>Vestland</c:v>
                  </c:pt>
                  <c:pt idx="12">
                    <c:v>Troms</c:v>
                  </c:pt>
                  <c:pt idx="13">
                    <c:v>Finnmark</c:v>
                  </c:pt>
                  <c:pt idx="14">
                    <c:v>Oslo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31</c:v>
                </c:pt>
                <c:pt idx="1">
                  <c:v>41</c:v>
                </c:pt>
                <c:pt idx="2">
                  <c:v>41</c:v>
                </c:pt>
                <c:pt idx="3">
                  <c:v>41</c:v>
                </c:pt>
                <c:pt idx="4">
                  <c:v>44</c:v>
                </c:pt>
                <c:pt idx="5">
                  <c:v>53</c:v>
                </c:pt>
                <c:pt idx="6">
                  <c:v>56</c:v>
                </c:pt>
                <c:pt idx="7">
                  <c:v>56</c:v>
                </c:pt>
                <c:pt idx="8">
                  <c:v>58</c:v>
                </c:pt>
                <c:pt idx="9">
                  <c:v>69</c:v>
                </c:pt>
                <c:pt idx="10">
                  <c:v>79</c:v>
                </c:pt>
                <c:pt idx="11">
                  <c:v>107</c:v>
                </c:pt>
                <c:pt idx="12">
                  <c:v>133</c:v>
                </c:pt>
                <c:pt idx="13">
                  <c:v>206</c:v>
                </c:pt>
                <c:pt idx="14">
                  <c:v>338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46514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b"/>
        <c:majorGridlines>
          <c:spPr>
            <a:ln w="9525" cap="flat">
              <a:solidFill>
                <a:srgbClr val="DDD6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FBF8F0"/>
        </a:solidFill>
        <a:ln>
          <a:noFill/>
        </a:ln>
        <a:effectLst/>
      </c:spPr>
    </c:plotArea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Enkeltpersoner</c:v>
                </c:pt>
              </c:strCache>
            </c:strRef>
          </c:tx>
          <c:spPr>
            <a:solidFill>
              <a:srgbClr val="A9761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46514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Møre og Romsdal</c:v>
                  </c:pt>
                  <c:pt idx="1">
                    <c:v>Rogaland</c:v>
                  </c:pt>
                  <c:pt idx="2">
                    <c:v>Østfold</c:v>
                  </c:pt>
                  <c:pt idx="3">
                    <c:v>Vestfold</c:v>
                  </c:pt>
                  <c:pt idx="4">
                    <c:v>Buskerud</c:v>
                  </c:pt>
                  <c:pt idx="5">
                    <c:v>Akershus</c:v>
                  </c:pt>
                  <c:pt idx="6">
                    <c:v>Telemark</c:v>
                  </c:pt>
                  <c:pt idx="7">
                    <c:v>Innlandet</c:v>
                  </c:pt>
                  <c:pt idx="8">
                    <c:v>Agder</c:v>
                  </c:pt>
                  <c:pt idx="9">
                    <c:v>Nordland</c:v>
                  </c:pt>
                  <c:pt idx="10">
                    <c:v>Trøndelag</c:v>
                  </c:pt>
                  <c:pt idx="11">
                    <c:v>Vestland</c:v>
                  </c:pt>
                  <c:pt idx="12">
                    <c:v>Troms</c:v>
                  </c:pt>
                  <c:pt idx="13">
                    <c:v>Finnmark</c:v>
                  </c:pt>
                  <c:pt idx="14">
                    <c:v>Oslo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2.1</c:v>
                </c:pt>
                <c:pt idx="1">
                  <c:v>2.5</c:v>
                </c:pt>
                <c:pt idx="2">
                  <c:v>3.3</c:v>
                </c:pt>
                <c:pt idx="3">
                  <c:v>3.2</c:v>
                </c:pt>
                <c:pt idx="4">
                  <c:v>3.4</c:v>
                </c:pt>
                <c:pt idx="5">
                  <c:v>4.8</c:v>
                </c:pt>
                <c:pt idx="6">
                  <c:v>3.4</c:v>
                </c:pt>
                <c:pt idx="7">
                  <c:v>4.3</c:v>
                </c:pt>
                <c:pt idx="8">
                  <c:v>3.6</c:v>
                </c:pt>
                <c:pt idx="9">
                  <c:v>3.2</c:v>
                </c:pt>
                <c:pt idx="10">
                  <c:v>5.1</c:v>
                </c:pt>
                <c:pt idx="11">
                  <c:v>5.6</c:v>
                </c:pt>
                <c:pt idx="12">
                  <c:v>5.7</c:v>
                </c:pt>
                <c:pt idx="13">
                  <c:v>3.9</c:v>
                </c:pt>
                <c:pt idx="14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Organisasjoner</c:v>
                </c:pt>
              </c:strCache>
            </c:strRef>
          </c:tx>
          <c:spPr>
            <a:solidFill>
              <a:srgbClr val="1F4E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46514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Møre og Romsdal</c:v>
                  </c:pt>
                  <c:pt idx="1">
                    <c:v>Rogaland</c:v>
                  </c:pt>
                  <c:pt idx="2">
                    <c:v>Østfold</c:v>
                  </c:pt>
                  <c:pt idx="3">
                    <c:v>Vestfold</c:v>
                  </c:pt>
                  <c:pt idx="4">
                    <c:v>Buskerud</c:v>
                  </c:pt>
                  <c:pt idx="5">
                    <c:v>Akershus</c:v>
                  </c:pt>
                  <c:pt idx="6">
                    <c:v>Telemark</c:v>
                  </c:pt>
                  <c:pt idx="7">
                    <c:v>Innlandet</c:v>
                  </c:pt>
                  <c:pt idx="8">
                    <c:v>Agder</c:v>
                  </c:pt>
                  <c:pt idx="9">
                    <c:v>Nordland</c:v>
                  </c:pt>
                  <c:pt idx="10">
                    <c:v>Trøndelag</c:v>
                  </c:pt>
                  <c:pt idx="11">
                    <c:v>Vestland</c:v>
                  </c:pt>
                  <c:pt idx="12">
                    <c:v>Troms</c:v>
                  </c:pt>
                  <c:pt idx="13">
                    <c:v>Finnmark</c:v>
                  </c:pt>
                  <c:pt idx="14">
                    <c:v>Oslo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5.1</c:v>
                </c:pt>
                <c:pt idx="1">
                  <c:v>5.4</c:v>
                </c:pt>
                <c:pt idx="2">
                  <c:v>5.2</c:v>
                </c:pt>
                <c:pt idx="3">
                  <c:v>5.3</c:v>
                </c:pt>
                <c:pt idx="4">
                  <c:v>5.5</c:v>
                </c:pt>
                <c:pt idx="5">
                  <c:v>5.6</c:v>
                </c:pt>
                <c:pt idx="6">
                  <c:v>6.9</c:v>
                </c:pt>
                <c:pt idx="7">
                  <c:v>6.2</c:v>
                </c:pt>
                <c:pt idx="8">
                  <c:v>7.3</c:v>
                </c:pt>
                <c:pt idx="9">
                  <c:v>8.6</c:v>
                </c:pt>
                <c:pt idx="10">
                  <c:v>8.3</c:v>
                </c:pt>
                <c:pt idx="11">
                  <c:v>9.7</c:v>
                </c:pt>
                <c:pt idx="12">
                  <c:v>12.3</c:v>
                </c:pt>
                <c:pt idx="13">
                  <c:v>15.7</c:v>
                </c:pt>
                <c:pt idx="14">
                  <c:v>23.3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46514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D6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651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Søkeaktivitet</c:v>
                </c:pt>
              </c:strCache>
            </c:strRef>
          </c:tx>
          <c:spPr>
            <a:solidFill>
              <a:srgbClr val="1F4E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Oslo</c:v>
                  </c:pt>
                  <c:pt idx="1">
                    <c:v>Finnmark</c:v>
                  </c:pt>
                  <c:pt idx="2">
                    <c:v>Troms</c:v>
                  </c:pt>
                  <c:pt idx="3">
                    <c:v>Vestland</c:v>
                  </c:pt>
                  <c:pt idx="4">
                    <c:v>Trøndelag</c:v>
                  </c:pt>
                  <c:pt idx="5">
                    <c:v>Møre og Romsdal</c:v>
                  </c:pt>
                  <c:pt idx="6">
                    <c:v>Rogaland</c:v>
                  </c:pt>
                  <c:pt idx="7">
                    <c:v>Agder</c:v>
                  </c:pt>
                  <c:pt idx="8">
                    <c:v>Vestfold</c:v>
                  </c:pt>
                  <c:pt idx="9">
                    <c:v>Akershus</c:v>
                  </c:pt>
                  <c:pt idx="10">
                    <c:v>Buskerud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115</c:v>
                </c:pt>
                <c:pt idx="1">
                  <c:v>19</c:v>
                </c:pt>
                <c:pt idx="2">
                  <c:v>6</c:v>
                </c:pt>
                <c:pt idx="3">
                  <c:v>4</c:v>
                </c:pt>
                <c:pt idx="4">
                  <c:v>-15</c:v>
                </c:pt>
                <c:pt idx="5">
                  <c:v>-83</c:v>
                </c:pt>
                <c:pt idx="6">
                  <c:v>-86</c:v>
                </c:pt>
                <c:pt idx="7">
                  <c:v>-51</c:v>
                </c:pt>
                <c:pt idx="8">
                  <c:v>-77</c:v>
                </c:pt>
                <c:pt idx="9">
                  <c:v>-54</c:v>
                </c:pt>
                <c:pt idx="10">
                  <c:v>-63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Treffprosent</c:v>
                </c:pt>
              </c:strCache>
            </c:strRef>
          </c:tx>
          <c:spPr>
            <a:solidFill>
              <a:srgbClr val="A976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Oslo</c:v>
                  </c:pt>
                  <c:pt idx="1">
                    <c:v>Finnmark</c:v>
                  </c:pt>
                  <c:pt idx="2">
                    <c:v>Troms</c:v>
                  </c:pt>
                  <c:pt idx="3">
                    <c:v>Vestland</c:v>
                  </c:pt>
                  <c:pt idx="4">
                    <c:v>Trøndelag</c:v>
                  </c:pt>
                  <c:pt idx="5">
                    <c:v>Møre og Romsdal</c:v>
                  </c:pt>
                  <c:pt idx="6">
                    <c:v>Rogaland</c:v>
                  </c:pt>
                  <c:pt idx="7">
                    <c:v>Agder</c:v>
                  </c:pt>
                  <c:pt idx="8">
                    <c:v>Vestfold</c:v>
                  </c:pt>
                  <c:pt idx="9">
                    <c:v>Akershus</c:v>
                  </c:pt>
                  <c:pt idx="10">
                    <c:v>Buskerud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39</c:v>
                </c:pt>
                <c:pt idx="2">
                  <c:v>15</c:v>
                </c:pt>
                <c:pt idx="3">
                  <c:v>-1</c:v>
                </c:pt>
                <c:pt idx="4">
                  <c:v>0</c:v>
                </c:pt>
                <c:pt idx="5">
                  <c:v>10</c:v>
                </c:pt>
                <c:pt idx="6">
                  <c:v>1</c:v>
                </c:pt>
                <c:pt idx="7">
                  <c:v>-13</c:v>
                </c:pt>
                <c:pt idx="8">
                  <c:v>-19</c:v>
                </c:pt>
                <c:pt idx="9">
                  <c:v>-15</c:v>
                </c:pt>
                <c:pt idx="10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Prosjektstørrelse</c:v>
                </c:pt>
              </c:strCache>
            </c:strRef>
          </c:tx>
          <c:spPr>
            <a:solidFill>
              <a:srgbClr val="3E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Oslo</c:v>
                  </c:pt>
                  <c:pt idx="1">
                    <c:v>Finnmark</c:v>
                  </c:pt>
                  <c:pt idx="2">
                    <c:v>Troms</c:v>
                  </c:pt>
                  <c:pt idx="3">
                    <c:v>Vestland</c:v>
                  </c:pt>
                  <c:pt idx="4">
                    <c:v>Trøndelag</c:v>
                  </c:pt>
                  <c:pt idx="5">
                    <c:v>Møre og Romsdal</c:v>
                  </c:pt>
                  <c:pt idx="6">
                    <c:v>Rogaland</c:v>
                  </c:pt>
                  <c:pt idx="7">
                    <c:v>Agder</c:v>
                  </c:pt>
                  <c:pt idx="8">
                    <c:v>Vestfold</c:v>
                  </c:pt>
                  <c:pt idx="9">
                    <c:v>Akershus</c:v>
                  </c:pt>
                  <c:pt idx="10">
                    <c:v>Buskerud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</c:v>
                </c:pt>
                <c:pt idx="1">
                  <c:v>14</c:v>
                </c:pt>
                <c:pt idx="2">
                  <c:v>8</c:v>
                </c:pt>
                <c:pt idx="3">
                  <c:v>4</c:v>
                </c:pt>
                <c:pt idx="4">
                  <c:v>-10</c:v>
                </c:pt>
                <c:pt idx="5">
                  <c:v>16</c:v>
                </c:pt>
                <c:pt idx="6">
                  <c:v>22</c:v>
                </c:pt>
                <c:pt idx="7">
                  <c:v>-18</c:v>
                </c:pt>
                <c:pt idx="8">
                  <c:v>7</c:v>
                </c:pt>
                <c:pt idx="9">
                  <c:v>-19</c:v>
                </c:pt>
                <c:pt idx="10">
                  <c:v>-54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18000000"/>
          <a:lstStyle/>
          <a:p>
            <a:pPr>
              <a:defRPr sz="105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DD6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8F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651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Rå innvilgelsesgrad</c:v>
                </c:pt>
              </c:strCache>
            </c:strRef>
          </c:tx>
          <c:spPr>
            <a:solidFill>
              <a:srgbClr val="C9C0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Finnmark</c:v>
                  </c:pt>
                  <c:pt idx="1">
                    <c:v>Troms</c:v>
                  </c:pt>
                  <c:pt idx="2">
                    <c:v>Telemark</c:v>
                  </c:pt>
                  <c:pt idx="3">
                    <c:v>Oslo</c:v>
                  </c:pt>
                  <c:pt idx="4">
                    <c:v>Møre og Romsdal</c:v>
                  </c:pt>
                  <c:pt idx="5">
                    <c:v>Trøndelag</c:v>
                  </c:pt>
                  <c:pt idx="6">
                    <c:v>Buskerud</c:v>
                  </c:pt>
                  <c:pt idx="7">
                    <c:v>Nordland</c:v>
                  </c:pt>
                  <c:pt idx="8">
                    <c:v>Rogaland</c:v>
                  </c:pt>
                  <c:pt idx="9">
                    <c:v>Vestland</c:v>
                  </c:pt>
                  <c:pt idx="10">
                    <c:v>Innlandet</c:v>
                  </c:pt>
                  <c:pt idx="11">
                    <c:v>Agder</c:v>
                  </c:pt>
                  <c:pt idx="12">
                    <c:v>Akershus</c:v>
                  </c:pt>
                  <c:pt idx="13">
                    <c:v>Østfold</c:v>
                  </c:pt>
                  <c:pt idx="14">
                    <c:v>Vestfold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52.2</c:v>
                </c:pt>
                <c:pt idx="1">
                  <c:v>41.3</c:v>
                </c:pt>
                <c:pt idx="2">
                  <c:v>40.3</c:v>
                </c:pt>
                <c:pt idx="3">
                  <c:v>35.8</c:v>
                </c:pt>
                <c:pt idx="4">
                  <c:v>39</c:v>
                </c:pt>
                <c:pt idx="5">
                  <c:v>35.7</c:v>
                </c:pt>
                <c:pt idx="6">
                  <c:v>35.9</c:v>
                </c:pt>
                <c:pt idx="7">
                  <c:v>36.7</c:v>
                </c:pt>
                <c:pt idx="8">
                  <c:v>35.8</c:v>
                </c:pt>
                <c:pt idx="9">
                  <c:v>35.3</c:v>
                </c:pt>
                <c:pt idx="10">
                  <c:v>34.9</c:v>
                </c:pt>
                <c:pt idx="11">
                  <c:v>31.3</c:v>
                </c:pt>
                <c:pt idx="12">
                  <c:v>30.5</c:v>
                </c:pt>
                <c:pt idx="13">
                  <c:v>30.9</c:v>
                </c:pt>
                <c:pt idx="14">
                  <c:v>29.4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Ordningsjustert</c:v>
                </c:pt>
              </c:strCache>
            </c:strRef>
          </c:tx>
          <c:spPr>
            <a:solidFill>
              <a:srgbClr val="1F4E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Finnmark</c:v>
                  </c:pt>
                  <c:pt idx="1">
                    <c:v>Troms</c:v>
                  </c:pt>
                  <c:pt idx="2">
                    <c:v>Telemark</c:v>
                  </c:pt>
                  <c:pt idx="3">
                    <c:v>Oslo</c:v>
                  </c:pt>
                  <c:pt idx="4">
                    <c:v>Møre og Romsdal</c:v>
                  </c:pt>
                  <c:pt idx="5">
                    <c:v>Trøndelag</c:v>
                  </c:pt>
                  <c:pt idx="6">
                    <c:v>Buskerud</c:v>
                  </c:pt>
                  <c:pt idx="7">
                    <c:v>Nordland</c:v>
                  </c:pt>
                  <c:pt idx="8">
                    <c:v>Rogaland</c:v>
                  </c:pt>
                  <c:pt idx="9">
                    <c:v>Vestland</c:v>
                  </c:pt>
                  <c:pt idx="10">
                    <c:v>Innlandet</c:v>
                  </c:pt>
                  <c:pt idx="11">
                    <c:v>Agder</c:v>
                  </c:pt>
                  <c:pt idx="12">
                    <c:v>Akershus</c:v>
                  </c:pt>
                  <c:pt idx="13">
                    <c:v>Østfold</c:v>
                  </c:pt>
                  <c:pt idx="14">
                    <c:v>Vestfold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49.4</c:v>
                </c:pt>
                <c:pt idx="1">
                  <c:v>43.2</c:v>
                </c:pt>
                <c:pt idx="2">
                  <c:v>38.4</c:v>
                </c:pt>
                <c:pt idx="3">
                  <c:v>36.6</c:v>
                </c:pt>
                <c:pt idx="4">
                  <c:v>36.6</c:v>
                </c:pt>
                <c:pt idx="5">
                  <c:v>35.8</c:v>
                </c:pt>
                <c:pt idx="6">
                  <c:v>35.4</c:v>
                </c:pt>
                <c:pt idx="7">
                  <c:v>35.3</c:v>
                </c:pt>
                <c:pt idx="8">
                  <c:v>34.7</c:v>
                </c:pt>
                <c:pt idx="9">
                  <c:v>34.1</c:v>
                </c:pt>
                <c:pt idx="10">
                  <c:v>33.9</c:v>
                </c:pt>
                <c:pt idx="11">
                  <c:v>31.2</c:v>
                </c:pt>
                <c:pt idx="12">
                  <c:v>31</c:v>
                </c:pt>
                <c:pt idx="13">
                  <c:v>30.7</c:v>
                </c:pt>
                <c:pt idx="14">
                  <c:v>28.8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18000000"/>
          <a:lstStyle/>
          <a:p>
            <a:pPr>
              <a:defRPr sz="105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DDD6C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BF8F0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651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Oslos kroneandel</c:v>
                </c:pt>
              </c:strCache>
            </c:strRef>
          </c:tx>
          <c:spPr>
            <a:solidFill>
              <a:srgbClr val="1F4E4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46514A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1F4E45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22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dPt>
            <c:idx val="23"/>
            <c:invertIfNegative val="0"/>
            <c:bubble3D val="0"/>
            <c:spPr>
              <a:solidFill>
                <a:srgbClr val="A9761B"/>
              </a:solidFill>
              <a:effectLst/>
            </c:spPr>
          </c:dPt>
          <c:cat>
            <c:multiLvlStrRef>
              <c:f>Sheet1!$A$2:$A$25</c:f>
              <c:multiLvlStrCache>
                <c:ptCount val="24"/>
                <c:lvl>
                  <c:pt idx="0">
                    <c:v>Litteraturformidling</c:v>
                  </c:pt>
                  <c:pt idx="1">
                    <c:v>Utviklingstiltak for kulturaktører</c:v>
                  </c:pt>
                  <c:pt idx="2">
                    <c:v>Tverrfaglig kulturvirksomhet</c:v>
                  </c:pt>
                  <c:pt idx="3">
                    <c:v>Visuell kunst – produksjon og formidling –…</c:v>
                  </c:pt>
                  <c:pt idx="4">
                    <c:v>Bygg og infrastruktur - ARENA</c:v>
                  </c:pt>
                  <c:pt idx="5">
                    <c:v>Musikk – konsertarrangører</c:v>
                  </c:pt>
                  <c:pt idx="6">
                    <c:v>Kulturvern – prosjekter</c:v>
                  </c:pt>
                  <c:pt idx="7">
                    <c:v>Visuell kunst – arrangører</c:v>
                  </c:pt>
                  <c:pt idx="8">
                    <c:v>Musikkfestivaler</c:v>
                  </c:pt>
                  <c:pt idx="9">
                    <c:v>Musikk – konserter og turneer – prosjekter…</c:v>
                  </c:pt>
                  <c:pt idx="10">
                    <c:v>Musikk – særskilte innspillingsprosjekter</c:v>
                  </c:pt>
                  <c:pt idx="11">
                    <c:v>Musikk – komposisjon og produksjon</c:v>
                  </c:pt>
                  <c:pt idx="12">
                    <c:v>Scenekunst – kompetanseutvikling og publik…</c:v>
                  </c:pt>
                  <c:pt idx="13">
                    <c:v>Scenekunst – teaterproduksjoner</c:v>
                  </c:pt>
                  <c:pt idx="14">
                    <c:v>Visuell kunst – produksjon og formidling –…</c:v>
                  </c:pt>
                  <c:pt idx="15">
                    <c:v>Scenekunst – gjestespill og turneer</c:v>
                  </c:pt>
                  <c:pt idx="16">
                    <c:v>Scenekunst – danseproduksjoner</c:v>
                  </c:pt>
                  <c:pt idx="17">
                    <c:v>Musikk - publisering</c:v>
                  </c:pt>
                  <c:pt idx="18">
                    <c:v>Visuell kunst – publikasjoner og manusutvi…</c:v>
                  </c:pt>
                  <c:pt idx="19">
                    <c:v>Scenekunst – forprosjekt</c:v>
                  </c:pt>
                  <c:pt idx="20">
                    <c:v>Visuell kunst – produksjon – nyetablerte k…</c:v>
                  </c:pt>
                  <c:pt idx="21">
                    <c:v>Tidsskrift og kritikk</c:v>
                  </c:pt>
                  <c:pt idx="22">
                    <c:v>Musikk – andre musikkprosjekter</c:v>
                  </c:pt>
                  <c:pt idx="23">
                    <c:v>Litteraturproduksjon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12.3</c:v>
                </c:pt>
                <c:pt idx="1">
                  <c:v>19.7</c:v>
                </c:pt>
                <c:pt idx="2">
                  <c:v>21.9</c:v>
                </c:pt>
                <c:pt idx="3">
                  <c:v>23.5</c:v>
                </c:pt>
                <c:pt idx="4">
                  <c:v>25.3</c:v>
                </c:pt>
                <c:pt idx="5">
                  <c:v>25.5</c:v>
                </c:pt>
                <c:pt idx="6">
                  <c:v>27.5</c:v>
                </c:pt>
                <c:pt idx="7">
                  <c:v>28.3</c:v>
                </c:pt>
                <c:pt idx="8">
                  <c:v>35.6</c:v>
                </c:pt>
                <c:pt idx="9">
                  <c:v>37.4</c:v>
                </c:pt>
                <c:pt idx="10">
                  <c:v>39.2</c:v>
                </c:pt>
                <c:pt idx="11">
                  <c:v>47.1</c:v>
                </c:pt>
                <c:pt idx="12">
                  <c:v>47.1</c:v>
                </c:pt>
                <c:pt idx="13">
                  <c:v>48</c:v>
                </c:pt>
                <c:pt idx="14">
                  <c:v>48.6</c:v>
                </c:pt>
                <c:pt idx="15">
                  <c:v>48.8</c:v>
                </c:pt>
                <c:pt idx="16">
                  <c:v>53.9</c:v>
                </c:pt>
                <c:pt idx="17">
                  <c:v>53.9</c:v>
                </c:pt>
                <c:pt idx="18">
                  <c:v>57.2</c:v>
                </c:pt>
                <c:pt idx="19">
                  <c:v>57.5</c:v>
                </c:pt>
                <c:pt idx="20">
                  <c:v>62.9</c:v>
                </c:pt>
                <c:pt idx="21">
                  <c:v>67.3</c:v>
                </c:pt>
                <c:pt idx="22">
                  <c:v>79.1</c:v>
                </c:pt>
                <c:pt idx="23">
                  <c:v>90.4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46514A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9525" cap="flat">
              <a:solidFill>
                <a:srgbClr val="DDD6C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BF8F0"/>
        </a:solidFill>
        <a:ln>
          <a:noFill/>
        </a:ln>
        <a:effectLst/>
      </c:spPr>
    </c:plotArea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Oslo</c:v>
                </c:pt>
              </c:strCache>
            </c:strRef>
          </c:tx>
          <c:spPr>
            <a:solidFill>
              <a:srgbClr val="1F4E45"/>
            </a:solidFill>
            <a:ln w="31750" cap="flat">
              <a:solidFill>
                <a:srgbClr val="1F4E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45"/>
              </a:solidFill>
              <a:ln w="9525" cap="flat">
                <a:solidFill>
                  <a:srgbClr val="1F4E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48.8</c:v>
                </c:pt>
                <c:pt idx="1">
                  <c:v>41.2</c:v>
                </c:pt>
                <c:pt idx="2">
                  <c:v>43.1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Vestland</c:v>
                </c:pt>
              </c:strCache>
            </c:strRef>
          </c:tx>
          <c:spPr>
            <a:solidFill>
              <a:srgbClr val="3E6CB0"/>
            </a:solidFill>
            <a:ln w="31750" cap="flat">
              <a:solidFill>
                <a:srgbClr val="3E6C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6CB0"/>
              </a:solidFill>
              <a:ln w="9525" cap="flat">
                <a:solidFill>
                  <a:srgbClr val="3E6C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13.5</c:v>
                </c:pt>
                <c:pt idx="1">
                  <c:v>7.5</c:v>
                </c:pt>
                <c:pt idx="2">
                  <c:v>8.8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Trøndelag</c:v>
                </c:pt>
              </c:strCache>
            </c:strRef>
          </c:tx>
          <c:spPr>
            <a:solidFill>
              <a:srgbClr val="A9761B"/>
            </a:solidFill>
            <a:ln w="31750" cap="flat">
              <a:solidFill>
                <a:srgbClr val="A976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9761B"/>
              </a:solidFill>
              <a:ln w="9525" cap="flat">
                <a:solidFill>
                  <a:srgbClr val="A976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6.1</c:v>
                </c:pt>
                <c:pt idx="1">
                  <c:v>15.3</c:v>
                </c:pt>
                <c:pt idx="2">
                  <c:v>5.6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Akershus</c:v>
                </c:pt>
              </c:strCache>
            </c:strRef>
          </c:tx>
          <c:spPr>
            <a:solidFill>
              <a:srgbClr val="B23A28"/>
            </a:solidFill>
            <a:ln w="31750" cap="flat">
              <a:solidFill>
                <a:srgbClr val="B23A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23A28"/>
              </a:solidFill>
              <a:ln w="9525" cap="flat">
                <a:solidFill>
                  <a:srgbClr val="B23A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3.6</c:v>
                </c:pt>
                <c:pt idx="1">
                  <c:v>5.3</c:v>
                </c:pt>
                <c:pt idx="2">
                  <c:v>9.7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DDD6C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6514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FBF8F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6514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BF8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Analysen dekker Norsk kulturfond alene — ikke Statens kunstnerstipend eller Fond for lyd og bilde. Tre års søknadsfrister, aggregert fra 32 633 vedtaksrader til 19 829 søknader.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 forbeholdet før tallene, ikke etter. Det er den vanligste feillesningen av denne typen 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Oslo-søkerne får 3,4 ganger befolkningsandelen; Buskerud-søkerne under en tredel.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Akershus har 749 søkere og 5,6 organisasjoner per 10 000 innbyggere som søker Kulturfondet.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Unntaket er Buskerud: 31,1 % av kronene går til enkeltpersoner — ikke fordi kunstnerne der gjør det bra, men fordi fylket nesten ikke har store institusjonelle søkere. Største mottaker i Buskerud fikk 2,0 mkr; i Oslo 17,6 mkr.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det viktigste enkeltfunnet for direktoratet: Oslo-søkerne vinner ikke fordi søknadene deres vurderes mildere — justert grad er 36,6 % mot 35,5 % nasjonalt. De vinner fordi de er mange og sender mye: 41 % av alle søknader.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NORSK KULTURFOND · GEOGRAFISK ANALYSE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B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Hvem søker,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B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hvem får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85800" y="3977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8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8 372 kunstnere, selskaper, festivaler og institusjoner sendte 19 566 søknader til Kulturfondet på tre år. 1,86 milliarder kroner ble delt ut. Vinnerne og taperne er ikke dem sentrum–periferi-fortellingen peker på.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5440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Søknadsfrister 30.11.2023–18.06.2026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Kilde: Kulturdirektoratets vedtakseksport pr. 13.08.2026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FB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Befolkningstall: SSB tabell 06913, 1.1.2026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SLIK SKAL TALLENE LESES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fylke søker ikke om noe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tall gjelder søkerens registrerte adresse — hvor kunstneren bor eller virksomheten er registrert. Det sier ingenting om hvor aktiviteten foregår.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5349240" cy="2148840"/>
          </a:xfrm>
          <a:prstGeom prst="roundRect">
            <a:avLst>
              <a:gd name="adj" fmla="val 1702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651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0E7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MÅLER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 pengene mottas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Søkerens adresse, etter SSBs fylkesinndeling for 2024. Når Akershus får lite, betyr det at søkere med adresse i Akershus får lite.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423160"/>
            <a:ext cx="5349240" cy="2148840"/>
          </a:xfrm>
          <a:prstGeom prst="roundRect">
            <a:avLst>
              <a:gd name="adj" fmla="val 1702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2651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20" kern="0" dirty="0">
                <a:solidFill>
                  <a:srgbClr val="B23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MÅLER IKKE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208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 aktiviteten skjer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20840" y="3364992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turné i Nordland finansiert av et Oslo-basert kompani teller her som Oslo. Dette er en reell begrensning ved analysen.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8920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Kulturfondet er ikke et fordelingspolitisk virkemiddel, og skal det heller ikke være.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skjevheten er så stor, og så ulikt fordelt mellom ordningene, at den er verdt å kjenne presist.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263 søknader (1,3 %) fra utenlandske eller ukjente adresser er holdt utenfor fylkessammenlikningen.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HOVEDBILDET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 av åtte nordmenn bor i Oslo.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Nesten halvparten av kronene går dit.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084832" cy="1874520"/>
          </a:xfrm>
          <a:prstGeom prst="roundRect">
            <a:avLst>
              <a:gd name="adj" fmla="val 19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260604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43,8 %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41832" y="322783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kronene går til søkere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Oslo-adresse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07792" y="2377440"/>
            <a:ext cx="2084832" cy="1874520"/>
          </a:xfrm>
          <a:prstGeom prst="roundRect">
            <a:avLst>
              <a:gd name="adj" fmla="val 19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63824" y="260604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12,9 %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63824" y="322783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befolkningen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 i Oslo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9784" y="2377440"/>
            <a:ext cx="2084832" cy="1874520"/>
          </a:xfrm>
          <a:prstGeom prst="roundRect">
            <a:avLst>
              <a:gd name="adj" fmla="val 19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85816" y="260604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3 200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85816" y="322783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de 8 372 søkerne 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registrert i Oslo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51776" y="2377440"/>
            <a:ext cx="2084832" cy="1874520"/>
          </a:xfrm>
          <a:prstGeom prst="roundRect">
            <a:avLst>
              <a:gd name="adj" fmla="val 19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07808" y="260604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35,5 %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607808" y="322783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søknadene innvilges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nasjonalt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73768" y="2377440"/>
            <a:ext cx="2084832" cy="1874520"/>
          </a:xfrm>
          <a:prstGeom prst="roundRect">
            <a:avLst>
              <a:gd name="adj" fmla="val 19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29800" y="2606040"/>
            <a:ext cx="1627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829800" y="322783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forskjell i kroner per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innbygger, Oslo–Buskerud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Søkerne i Oslo står for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41,0 prosent av alle søknader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 sendes inn, og henter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 ganger befolkningsandelen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 kronene. Buskerud-søkerne får under en tredel av sin.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19 566 søknader · 1,86 mrd. kroner tildelt · 36 ordninger · 30.11.2023–18.06.2026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HOVEDBILDET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Kroneandel målt mot befolkningsandel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der 100 = fylket får nøyaktig sin befolkningsandel av kronene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600200"/>
          <a:ext cx="7772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78240" y="2103120"/>
            <a:ext cx="2724912" cy="3017520"/>
          </a:xfrm>
          <a:prstGeom prst="roundRect">
            <a:avLst>
              <a:gd name="adj" fmla="val 1342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525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fylker over,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elleve under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052560" y="30632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Søkere i Oslo, Finnmark, Troms og Vestland henter inn mer enn fylkets befolkningsandel.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Taperne er ikke periferien, men et belte på det sentrale Østlandet: Akershus, Østfold, Buskerud og Vestfold — med Agder like ved.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Søkerens registrerte adresse. Befolkningsandel per 1.1.2026.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HOVEDFUNN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ventede mønsteret stemmer ikke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Nord-Norge taper ikke. Det sentrale Østlandet gjør det.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0E7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BEFOLKNINGSANDELEN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862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Finnmark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63240" y="2907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7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206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218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dobbelt så mye per innbygger som folketallet tilsier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858768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06324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7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133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43342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høy uttelling tross lite folketall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974336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5093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Vestland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06324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7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107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54498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 vidt over egen befolkningsandel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3957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B23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BEFOLKNINGSANDELEN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743200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2862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Akershus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41080" y="2907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23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41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37960" y="32186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749 207 innbyggere — flere enn Oslo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3858768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37960" y="3977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Vestfold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641080" y="4023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23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41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43342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lavest justert innvilgelsesgrad i landet: 28,8 %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4974336"/>
            <a:ext cx="5120640" cy="960120"/>
          </a:xfrm>
          <a:prstGeom prst="roundRect">
            <a:avLst>
              <a:gd name="adj" fmla="val 381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37960" y="5093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Buskerud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64108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23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31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544982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104 kroner per innbygger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Indeks 100 = kroneandel lik befolkningsandel.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 BLINDE FLEKKEN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Akershus er landets største fylke —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nest lavest på kroner per innbygger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749 207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0" y="2487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innbyggere — flere enn Oslo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5,5 %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0" y="33558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kronene, mot en befolkningsandel på 13,3 %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31,0 %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0" y="422452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justert innvilgelsesgrad, mot 35,5 % nasjonalt (z = −3,9)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23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50932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 på arrangør- og infrastrukturordninger — lavest i landet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2377440"/>
            <a:ext cx="4050792" cy="3200400"/>
          </a:xfrm>
          <a:prstGeom prst="roundRect">
            <a:avLst>
              <a:gd name="adj" fmla="val 1143"/>
            </a:avLst>
          </a:prstGeom>
          <a:solidFill>
            <a:srgbClr val="1F4E45"/>
          </a:solidFill>
          <a:ln w="9525">
            <a:solidFill>
              <a:srgbClr val="1F4E45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0" y="26060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spc="18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KRONER PER INNBYGGER TIL ARRANGEMENT,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b="1" spc="18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VISNINGSSTEDER OG KULTURBYGG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32918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Finnmark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0" y="32369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B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370 kr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72400" y="40050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0" y="39502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B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 kr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72400" y="47183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Akershus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0" y="4663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kr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av de tre forklaringsfaktorene peker i Akershus’ favør. Dette er ikke et distriktsspørsmål — og fanges derfor ikke opp av tiltak innrettet mot distriktene.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SØKERNE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 tett sitter søkerne?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Unike søkere per 10 000 innbyggere, fordelt på enkeltpersoner og organisasjoner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600200"/>
          <a:ext cx="7772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78240" y="2103120"/>
            <a:ext cx="2724912" cy="3200400"/>
          </a:xfrm>
          <a:prstGeom prst="roundRect">
            <a:avLst>
              <a:gd name="adj" fmla="val 1342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52560" y="2331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ulike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søkergrupper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052560" y="306324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Enkeltkunstnere: Oslo 22,0 mot 2,1 i Møre og Romsdal — ti gangers forskjell. I tall: 1 602 kunstnere i Oslo mot 57.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Organisasjoner: her følger Finnmark (15,7) og Troms (12,3) rett bak Oslo (23,3). Nederst ligger ikke distriktene, men Møre og Romsdal, Østfold, Vestfold og Rogaland.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Samme søker teller én gang uansett antall søknader. Måler bredden i søkerbasen, ikke søknadsmengden.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SØKERNE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 gruppene lykkes ikke likt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lag 3 500 av søkerne er enkeltpersoner, 5 100 er organisasjoner. Forskjellen i uttelling er stor — og forsterkes av beløpene.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7764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ENKELTPERSONER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5236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ORGANISASJONER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9692640" cy="786384"/>
          </a:xfrm>
          <a:prstGeom prst="roundRect">
            <a:avLst>
              <a:gd name="adj" fmla="val 46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2944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Innvilgelsesgrad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28712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26,9 %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452360" y="28712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39,5 %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3675888"/>
            <a:ext cx="9692640" cy="786384"/>
          </a:xfrm>
          <a:prstGeom prst="roundRect">
            <a:avLst>
              <a:gd name="adj" fmla="val 46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8408" y="387705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Snittbeløp ved ja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38039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109 000 kr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452360" y="380390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320 000 kr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85800" y="4608576"/>
            <a:ext cx="9692640" cy="786384"/>
          </a:xfrm>
          <a:prstGeom prst="roundRect">
            <a:avLst>
              <a:gd name="adj" fmla="val 4651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8408" y="48097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Andel av alle kronene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77640" y="4736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9,8 %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52360" y="47365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90,2 %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85800" y="56235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Oslo står enkeltkunstnere for 36,9 prosent av søknadene, men bare 11,4 prosent av kronene.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Bildet av Oslo som kunstnerbyen stemmer i antall søkere — men pengene går i hovedsak til virksomheter.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helt ulike måter å tape på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fylke kan få lite av to grunner: få søker, eller de som søker får nei. Skillet avgjør hvilket tiltak som virker.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4520" y="1783080"/>
            <a:ext cx="7635240" cy="4114800"/>
          </a:xfrm>
          <a:prstGeom prst="roundRect">
            <a:avLst>
              <a:gd name="adj" fmla="val 889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91594" y="1783080"/>
            <a:ext cx="0" cy="411480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874520" y="4440555"/>
            <a:ext cx="7635240" cy="0"/>
          </a:xfrm>
          <a:prstGeom prst="line">
            <a:avLst/>
          </a:prstGeom>
          <a:noFill/>
          <a:ln w="12700">
            <a:solidFill>
              <a:srgbClr val="C9C0A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158737" y="59344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04304" y="59344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17274" y="59344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08408" y="59344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34347" y="59344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07592" y="528294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07592" y="44256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07592" y="356844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07592" y="27111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07592" y="185394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31195" y="3977640"/>
            <a:ext cx="548640" cy="548640"/>
          </a:xfrm>
          <a:prstGeom prst="ellipse">
            <a:avLst/>
          </a:prstGeom>
          <a:solidFill>
            <a:srgbClr val="0E7D59">
              <a:alpha val="75000"/>
            </a:srgbClr>
          </a:solidFill>
          <a:ln w="12700">
            <a:solidFill>
              <a:srgbClr val="0E7D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62996" y="1893119"/>
            <a:ext cx="328562" cy="328562"/>
          </a:xfrm>
          <a:prstGeom prst="ellipse">
            <a:avLst/>
          </a:prstGeom>
          <a:solidFill>
            <a:srgbClr val="0E7D59">
              <a:alpha val="75000"/>
            </a:srgbClr>
          </a:solidFill>
          <a:ln w="12700">
            <a:solidFill>
              <a:srgbClr val="0E7D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0065" y="2940669"/>
            <a:ext cx="359442" cy="359442"/>
          </a:xfrm>
          <a:prstGeom prst="ellipse">
            <a:avLst/>
          </a:prstGeom>
          <a:solidFill>
            <a:srgbClr val="0E7D59">
              <a:alpha val="75000"/>
            </a:srgbClr>
          </a:solidFill>
          <a:ln w="12700">
            <a:solidFill>
              <a:srgbClr val="0E7D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9746" y="4433727"/>
            <a:ext cx="493716" cy="493716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6146" y="4183092"/>
            <a:ext cx="412055" cy="412055"/>
          </a:xfrm>
          <a:prstGeom prst="ellipse">
            <a:avLst/>
          </a:prstGeom>
          <a:solidFill>
            <a:srgbClr val="0E7D59">
              <a:alpha val="75000"/>
            </a:srgbClr>
          </a:solidFill>
          <a:ln w="12700">
            <a:solidFill>
              <a:srgbClr val="0E7D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64649" y="4307783"/>
            <a:ext cx="334124" cy="334124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0055" y="4536926"/>
            <a:ext cx="355899" cy="355899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2629" y="3793369"/>
            <a:ext cx="299963" cy="299963"/>
          </a:xfrm>
          <a:prstGeom prst="ellipse">
            <a:avLst/>
          </a:prstGeom>
          <a:solidFill>
            <a:srgbClr val="0E7D59">
              <a:alpha val="75000"/>
            </a:srgbClr>
          </a:solidFill>
          <a:ln w="12700">
            <a:solidFill>
              <a:srgbClr val="0E7D5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18525" y="4088034"/>
            <a:ext cx="327851" cy="327851"/>
          </a:xfrm>
          <a:prstGeom prst="ellipse">
            <a:avLst/>
          </a:prstGeom>
          <a:solidFill>
            <a:srgbClr val="0E7D59">
              <a:alpha val="75000"/>
            </a:srgbClr>
          </a:solidFill>
          <a:ln w="12700">
            <a:solidFill>
              <a:srgbClr val="0E7D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04042" y="4389835"/>
            <a:ext cx="375760" cy="375760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06960" y="5016180"/>
            <a:ext cx="323220" cy="323220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97191" y="5017678"/>
            <a:ext cx="388805" cy="388805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2419" y="5437380"/>
            <a:ext cx="303780" cy="303780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9242" y="5105607"/>
            <a:ext cx="315817" cy="315817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3010" y="4312116"/>
            <a:ext cx="291169" cy="291169"/>
          </a:xfrm>
          <a:prstGeom prst="ellipse">
            <a:avLst/>
          </a:prstGeom>
          <a:solidFill>
            <a:srgbClr val="B23A28">
              <a:alpha val="75000"/>
            </a:srgbClr>
          </a:solidFill>
          <a:ln w="12700">
            <a:solidFill>
              <a:srgbClr val="B23A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4699" y="4165092"/>
            <a:ext cx="2816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68326" y="4593717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Vestland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03065" y="4160520"/>
            <a:ext cx="56509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Trøndelag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40860" y="5125212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Akershus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772" y="4490847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Rogaland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44371" y="3033522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40092" y="4769739"/>
            <a:ext cx="565099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Innlandet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53637" y="3962781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Nordland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421" y="1970532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Finnmark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58405" y="4165092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Møre og Romsdal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85044" y="4949190"/>
            <a:ext cx="338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Agder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032664" y="5176647"/>
            <a:ext cx="45171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Østfold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21063" y="5502402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Vestfold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09358" y="3856482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Telemark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99043" y="4370832"/>
            <a:ext cx="50840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Buskerud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21424" y="4202811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landssnitt 35,5 %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874520" y="6172200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Unike søkere per 10 000 innbyggere  →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 rot="16200000">
            <a:off x="384048" y="32461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Ordningsjustert</a:t>
            </a:r>
            <a:endParaRPr lang="en-US" sz="11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innvilgelsesgrad  →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784080" y="1783080"/>
            <a:ext cx="1719072" cy="4114800"/>
          </a:xfrm>
          <a:prstGeom prst="roundRect">
            <a:avLst>
              <a:gd name="adj" fmla="val 2128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966960" y="1965960"/>
            <a:ext cx="1371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b="1" spc="160" kern="0" dirty="0">
                <a:solidFill>
                  <a:srgbClr val="B23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BEGGE PROBLEMER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Akershus, Østfold, Vestfold og Agder: få søker, og de som gjør det får sjeldnere ja.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b="1" spc="160" kern="0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BARE FÅ SØKERE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Rogaland og Møre og Romsdal treffer helt normalt — de er bare svært få.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b="1" spc="160" kern="0" dirty="0">
                <a:solidFill>
                  <a:srgbClr val="0E7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HØY UTTELLING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Finnmark og Troms, tross lite folketall.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Boblestørrelse = tildelte millioner kroner. Justert innvilgelsesgrad er korrigert for hvilke ordninger søkerne faktisk søker på.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Søkeaktivitet forklarer mest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Kroner per innbygger er produktet av tre ting: hvor mange som søker, hvor ofte de får ja, og hvor store tildelingene er. Søylene viser hvor mye hver faktor trekker fylket over eller under landssnittet.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783080"/>
          <a:ext cx="7863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32520" y="2194560"/>
            <a:ext cx="2770632" cy="3017520"/>
          </a:xfrm>
          <a:prstGeom prst="roundRect">
            <a:avLst>
              <a:gd name="adj" fmla="val 132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06840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ulike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006840" y="310896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Rogaland: −63 poeng totalt, hvorav −86 er svak søkeaktivitet — motvirket av større prosjekter.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Buskerud: kommer dårligst ut totalt, men får ja like ofte som andre. Få søker, og prosjektene er små.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Akershus: eneste fylke som ligger under på alle tre faktorene samtidig.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Logaritmisk dekomponering; faktorene summerer til fylkets totalavvik fra landssnittet i kroner per innbygger.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SIGNIFIKANS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Skjevheten forsvinner ikke når man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justerer for hva fylkene søker på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Innvilgelsesgraden varierer fra 15,6 % på scenekunst forprosjekt til 69,4 % på litteraturproduksjon. Justeringen standardiserer over 36 ordninger × 3 årganger — og flytter lite.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468880"/>
          <a:ext cx="7863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32520" y="2697480"/>
            <a:ext cx="2770632" cy="2834640"/>
          </a:xfrm>
          <a:prstGeom prst="roundRect">
            <a:avLst>
              <a:gd name="adj" fmla="val 1320"/>
            </a:avLst>
          </a:prstGeom>
          <a:solidFill>
            <a:srgbClr val="1F4E45"/>
          </a:solidFill>
          <a:ln w="9525">
            <a:solidFill>
              <a:srgbClr val="1F4E45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06840" y="2880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SJU SIGNIFIKANTE AVVIK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006840" y="320040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B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landssnittet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Finnmark 49,4 %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Troms 43,2 %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 36,6 %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B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landssnittet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Akershus 31,0 %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Agder 31,2 %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Østfold 30,7 %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C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Vestfold 28,8 %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Mantel-Haenszel-test over ordning × årgang, p &lt; 0,05. Landssnitt 35,5 %.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ORDNINGSSTRUKTUR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Kulturfondet har to geografier, ikke én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9105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Skillet går ikke mellom kunstarter, men mellom hva ordningen finansierer: et arrangement eller et bygg, eller en produksjon og et kunstnerskap.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5120640" cy="2880360"/>
          </a:xfrm>
          <a:prstGeom prst="roundRect">
            <a:avLst>
              <a:gd name="adj" fmla="val 127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816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spc="15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ORDNINGER · ARRANGØR, VISNINGSSTED, INFRASTRUKTUR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78408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708 mkr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78408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tildelt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51176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27,7 %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51176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Oslo-søkere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3944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42,0 %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23944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innvilget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78408" y="406908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Søkerne er nesten uten unntak organisasjoner. Fem fylker utenom Oslo henter mer enn befolkningsandelen: Finnmark, Vestland, Troms, Nordland og Møre og Romsdal.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606040"/>
            <a:ext cx="5120640" cy="2880360"/>
          </a:xfrm>
          <a:prstGeom prst="roundRect">
            <a:avLst>
              <a:gd name="adj" fmla="val 1270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28163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b="1" spc="150" kern="0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ORDNINGER · PRODUKSJON, KUNSTNERSKAP, PUBLISERING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56248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1 156 mkr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6248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tildelt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29016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53,7 %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29016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Oslo-søkere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01784" y="3246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76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32,8 %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01784" y="36850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innvilget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56248" y="406908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søker enkeltkunstnerne. Utenom Oslo holder bare Finnmark og Troms seg over befolkningsandelen.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73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Direktoratets geografiske profil avgjøres i praksis av hvordan rammen fordeles mellom disse to ordningstypene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ikke av vurderingene i den enkelte ordning. Vrir man en krone fra produksjon til arrangør, flytter den seg også på kartet.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ORDNINGSSTRUKTUR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Oslos andel varierer fra 12 til 90 prosent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Andel av ordningens tildelte kroner som går til søkere med Oslo-adresse. De 24 største ordningene.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600200"/>
          <a:ext cx="8503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509760" y="2103120"/>
            <a:ext cx="1993392" cy="3017520"/>
          </a:xfrm>
          <a:prstGeom prst="roundRect">
            <a:avLst>
              <a:gd name="adj" fmla="val 1835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92640" y="2286000"/>
            <a:ext cx="1645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b="1" spc="1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ARRANGØR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Litteraturformidling gir bare 12,3 % til Oslo, Utviklingstiltak 19,7 %.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b="1" spc="160" kern="0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PRODUKSJON</a:t>
            </a:r>
            <a:endParaRPr lang="en-US" sz="9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Litteraturproduksjon gir 90,4 % til Oslo — en forlagsgeografi mer enn en forfattergeografi.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Ordninger med under 150 søknader i perioden er utelatt.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UTVIKLING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Fordelingen er stabil. Det som ser ut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 bevegelse, er enkelttilsagn.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2148840"/>
          <a:ext cx="6309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2148840"/>
            <a:ext cx="4142232" cy="3657600"/>
          </a:xfrm>
          <a:prstGeom prst="roundRect">
            <a:avLst>
              <a:gd name="adj" fmla="val 1000"/>
            </a:avLst>
          </a:prstGeom>
          <a:solidFill>
            <a:srgbClr val="1F4E45"/>
          </a:solidFill>
          <a:ln w="9525">
            <a:solidFill>
              <a:srgbClr val="1F4E45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2377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 IKKE ENKELTÅR SOM TREND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680960" y="2697480"/>
            <a:ext cx="3520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Hoppet for Akershus fra 3,6 til 9,7 prosent ser dramatisk ut. Men 25 av de 40 millionene i 2026 gikk til to søkere: De Utvalgte og Nie Teater, med hvert sitt seksårige kunstnerskapstilsagn.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Vestfold står de fem største tilsagnene for 53 prosent av alle kronene, i Østfold 50 prosent.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B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Oslo-serien, som hviler på 1 346 mottakere, er den eneste stabile nok til å tolkes direkte — og den ligger mellom 41 og 49 prosent alle tre årene, uten retning.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Sammensetningsjusterte andeler, balansert panel på 27 ordninger med frist alle tre år (18 484 søknader). 2026 er ufullstendig: sju runder mot ti–elleve.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1F4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HVA FUNNENE BETYR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768096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spørsmål til direktoratet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120640" cy="2011680"/>
          </a:xfrm>
          <a:prstGeom prst="roundRect">
            <a:avLst>
              <a:gd name="adj" fmla="val 1818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søkerne i Akershus en blind flekk?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40487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lavest på kroner per innbygger, lavest i landet på arrangørordninger, og signifikant under landssnittet selv etter justering. Ikke et distriktsspørsmål — og fanges derfor ikke av distriktstiltak.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120640" cy="2011680"/>
          </a:xfrm>
          <a:prstGeom prst="roundRect">
            <a:avLst>
              <a:gd name="adj" fmla="val 1818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56248" y="1874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78040" y="1856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 bredden i søkermassen måles som eget mål?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240487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 mange som søker forklarer mer enn innvilgelsesgraden gjør. Uten et mål på søkerbredde per fylke rettes tiltakene mot vurderingspraksis, der problemet stort sett ikke ligger.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931920"/>
            <a:ext cx="5120640" cy="2011680"/>
          </a:xfrm>
          <a:prstGeom prst="roundRect">
            <a:avLst>
              <a:gd name="adj" fmla="val 1818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balansen mellom ordningstypene et bevisst valg?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64515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Forholdet mellom arrangørpotten og produksjonspotten er i praksis direktoratets viktigste geografiske virkemiddel. Er dagens fordeling et resultat av en vurdering, eller av historikk?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120640" cy="2011680"/>
          </a:xfrm>
          <a:prstGeom prst="roundRect">
            <a:avLst>
              <a:gd name="adj" fmla="val 1818"/>
            </a:avLst>
          </a:prstGeom>
          <a:solidFill>
            <a:srgbClr val="FBF8F0"/>
          </a:solidFill>
          <a:ln w="9525">
            <a:solidFill>
              <a:srgbClr val="C9C0AC"/>
            </a:solidFill>
            <a:prstDash val="solid"/>
          </a:ln>
          <a:effectLst>
            <a:outerShdw sx="100000" sy="100000" kx="0" ky="0" algn="bl" rotWithShape="0" blurRad="101600" dist="508" dir="5400000">
              <a:srgbClr val="1F4E4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4114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78040" y="409651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3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gjør søkerne i Nord-Norge annerledes?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4645152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6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Finnmark og Troms har landets høyeste justerte innvilgelsesgrad, på ordninger over hele bredden. Dette er den eneste dokumenterte suksessoppskriften i materialet — og den er ikke undersøkt.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6291072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Kulturfondets geografi 2024–2026 · Impromptu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METODE OG FORBEHOLD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Slik er tallene regnet 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8928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187452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32 633 vedtaksrader aggregert til 19 829 søknader på nøkkelen ordning + frist + søker + tiltakstittel. Flerårige tilsagn gir 3–6 rader for samme søknad; rådata overteller derfor flerårige ordninger kraftig.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734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SØKERNE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2715768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8 372 unike søkere i de 15 fylkene, identifisert ved søkernavn. Om lag 3 500 enkeltpersoner og 5 100 organisasjoner; summen overstiger 8 372 fordi noen navn opptrer i flere fylker eller under begge typer.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5753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GEOGRAFI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3557016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Søkers fylke, ikke tiltakets sted. Analysen måler hvor pengene mottas, ikke hvor aktiviteten skjer. 263 søknader (1,3 %) fra utenlandske eller ukjente adresser er holdt utenfor.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4398264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Indirekte standardisering over ordning × søknadsår, testet med Mantel-Haenszel og hypergeometrisk varians.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2578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D9A4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AVGRENSNING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5239512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Norsk kulturfond. Statens kunstnerstipend, Fond for lyd og bilde og øvrige ordninger er ikke med — konklusjonene gjelder ikke for dem. 2026 er ufullstendig og nivåtall per år er ikke sammenlignbare.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62362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Kilde: Kulturdirektoratets vedtakseksport pr. 13.08.2026 · SSB tabell 06913 · Impromptu Analytics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Kulturfondets geografi 2024–2026</dc:title>
  <dc:subject>PptxGenJS Presentation</dc:subject>
  <dc:creator>Impromptu Analytics</dc:creator>
  <cp:lastModifiedBy>Impromptu Analytics</cp:lastModifiedBy>
  <cp:revision>1</cp:revision>
  <dcterms:created xsi:type="dcterms:W3CDTF">2026-08-14T11:00:05Z</dcterms:created>
  <dcterms:modified xsi:type="dcterms:W3CDTF">2026-08-14T11:00:05Z</dcterms:modified>
</cp:coreProperties>
</file>